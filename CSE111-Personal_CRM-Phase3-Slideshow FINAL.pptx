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43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001ae00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6001ae00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5e915a8d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5e915a8d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blake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5e986207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5e986207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blake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5e9862078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5e9862078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blake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5e9862078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5e9862078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blake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5e986207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5e986207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5e9862078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5e9862078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c9ec5b60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c9ec5b60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5e9862078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5e9862078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5fe92d45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5fe92d45e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CRM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4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By Jason Chen, Blake Hoff, Michael Wang</a:t>
            </a:r>
            <a:endParaRPr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CSE 111 Database Systems</a:t>
            </a:r>
            <a:endParaRPr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Phase 3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274325" y="134500"/>
            <a:ext cx="8660400" cy="53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System Description - Personal CRM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91800" y="786900"/>
            <a:ext cx="4180200" cy="40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We built a local web application for containing the information you have about your friends and anyone you know. 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Our app can be used to remember how you met someone, and other facts about them like their birthday. You can add anything you want to remember about them.</a:t>
            </a:r>
            <a:endParaRPr sz="2000"/>
          </a:p>
        </p:txBody>
      </p:sp>
      <p:pic>
        <p:nvPicPr>
          <p:cNvPr id="62" name="Google Shape;62;p14" descr="Mobile connection between people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823000"/>
            <a:ext cx="4267197" cy="3200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ctrTitle"/>
          </p:nvPr>
        </p:nvSpPr>
        <p:spPr>
          <a:xfrm>
            <a:off x="145150" y="111000"/>
            <a:ext cx="8253600" cy="53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Use Case Description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91800" y="786900"/>
            <a:ext cx="8360400" cy="3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 b="1"/>
              <a:t>Add Contact</a:t>
            </a:r>
            <a:r>
              <a:rPr lang="en" sz="2000"/>
              <a:t> - </a:t>
            </a:r>
            <a:r>
              <a:rPr lang="en" sz="2000">
                <a:solidFill>
                  <a:schemeClr val="dk1"/>
                </a:solidFill>
              </a:rPr>
              <a:t>User should be able to add contacts to their contact list</a:t>
            </a:r>
            <a:endParaRPr sz="2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 b="1"/>
              <a:t>View/Edit Contact</a:t>
            </a:r>
            <a:r>
              <a:rPr lang="en" sz="2000"/>
              <a:t> - </a:t>
            </a:r>
            <a:r>
              <a:rPr lang="en" sz="2000">
                <a:solidFill>
                  <a:schemeClr val="dk1"/>
                </a:solidFill>
              </a:rPr>
              <a:t>User can view their contacts in the contact list, and edit any attributes from the list.</a:t>
            </a:r>
            <a:endParaRPr sz="2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 b="1"/>
              <a:t>Delete Contact</a:t>
            </a:r>
            <a:r>
              <a:rPr lang="en" sz="2000"/>
              <a:t> - </a:t>
            </a:r>
            <a:r>
              <a:rPr lang="en" sz="2000">
                <a:solidFill>
                  <a:schemeClr val="dk1"/>
                </a:solidFill>
              </a:rPr>
              <a:t>User can delete any of their contacts from the contact list.</a:t>
            </a:r>
            <a:endParaRPr sz="2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ctrTitle"/>
          </p:nvPr>
        </p:nvSpPr>
        <p:spPr>
          <a:xfrm>
            <a:off x="274325" y="134500"/>
            <a:ext cx="8613300" cy="53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Use Case #1 - Add Person, Reminder, Or Note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45325" y="837000"/>
            <a:ext cx="85422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Participating Actors:</a:t>
            </a:r>
            <a:r>
              <a:rPr lang="en" sz="1800"/>
              <a:t> Owner of Personal CRM, person of interest</a:t>
            </a:r>
            <a:endParaRPr sz="1800"/>
          </a:p>
        </p:txBody>
      </p:sp>
      <p:sp>
        <p:nvSpPr>
          <p:cNvPr id="75" name="Google Shape;75;p16"/>
          <p:cNvSpPr txBox="1"/>
          <p:nvPr/>
        </p:nvSpPr>
        <p:spPr>
          <a:xfrm>
            <a:off x="345325" y="1373100"/>
            <a:ext cx="85422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Event Flow: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Owner navigates to the personal CRM person page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Clicks the button for add new person, reminder or note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Displays empty contact information text fields with address, name, birthday etc, or due date and reminder name, or note name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Owner enters the information for all of the fields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Owner saves the information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System adds stored information to the database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76" name="Google Shape;76;p16"/>
          <p:cNvSpPr txBox="1"/>
          <p:nvPr/>
        </p:nvSpPr>
        <p:spPr>
          <a:xfrm>
            <a:off x="300900" y="3770400"/>
            <a:ext cx="85422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7" name="Google Shape;77;p16"/>
          <p:cNvSpPr txBox="1"/>
          <p:nvPr/>
        </p:nvSpPr>
        <p:spPr>
          <a:xfrm>
            <a:off x="345325" y="4306500"/>
            <a:ext cx="85422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Exit Conditions:</a:t>
            </a:r>
            <a:r>
              <a:rPr lang="en" sz="1800"/>
              <a:t> New contact/reminder/note has been added to the database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ctrTitle"/>
          </p:nvPr>
        </p:nvSpPr>
        <p:spPr>
          <a:xfrm>
            <a:off x="274325" y="134500"/>
            <a:ext cx="8613300" cy="53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Use Case #2 - View/Edit Person, Reminder or Note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345325" y="837000"/>
            <a:ext cx="85422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Participating Actors:</a:t>
            </a:r>
            <a:r>
              <a:rPr lang="en" sz="1800"/>
              <a:t> Owner of Personal CRM, person of interest</a:t>
            </a:r>
            <a:endParaRPr sz="1800"/>
          </a:p>
        </p:txBody>
      </p:sp>
      <p:sp>
        <p:nvSpPr>
          <p:cNvPr id="84" name="Google Shape;84;p17"/>
          <p:cNvSpPr txBox="1"/>
          <p:nvPr/>
        </p:nvSpPr>
        <p:spPr>
          <a:xfrm>
            <a:off x="345325" y="1373100"/>
            <a:ext cx="85422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Event Flow: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Owner navigates to the personal CRM people page and views all of their contacts, reminders, and notes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Clicks the button for edit contact, reminder, or note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Displays contact information text fields with address, name, birthday etc.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Owner can edit any of the information in the fields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Owner saves the contact information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System saves new information to the database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85" name="Google Shape;85;p17"/>
          <p:cNvSpPr txBox="1"/>
          <p:nvPr/>
        </p:nvSpPr>
        <p:spPr>
          <a:xfrm>
            <a:off x="300900" y="3770400"/>
            <a:ext cx="85422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6" name="Google Shape;86;p17"/>
          <p:cNvSpPr txBox="1"/>
          <p:nvPr/>
        </p:nvSpPr>
        <p:spPr>
          <a:xfrm>
            <a:off x="345325" y="4306500"/>
            <a:ext cx="85422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Exit Conditions:</a:t>
            </a:r>
            <a:r>
              <a:rPr lang="en" sz="1800"/>
              <a:t> Contact/Reminder/Note has been edited/viewed and updated in the database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ctrTitle"/>
          </p:nvPr>
        </p:nvSpPr>
        <p:spPr>
          <a:xfrm>
            <a:off x="274325" y="134500"/>
            <a:ext cx="8613300" cy="53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Use Case #3 - Delete Person, Reminder, or Note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45325" y="837000"/>
            <a:ext cx="85422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Participating Actors:</a:t>
            </a:r>
            <a:r>
              <a:rPr lang="en" sz="1800"/>
              <a:t> Owner of Personal CRM, person of interest</a:t>
            </a:r>
            <a:endParaRPr sz="1800"/>
          </a:p>
        </p:txBody>
      </p:sp>
      <p:sp>
        <p:nvSpPr>
          <p:cNvPr id="93" name="Google Shape;93;p18"/>
          <p:cNvSpPr txBox="1"/>
          <p:nvPr/>
        </p:nvSpPr>
        <p:spPr>
          <a:xfrm>
            <a:off x="345325" y="1373100"/>
            <a:ext cx="85422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Event Flow: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Owner navigates to the personal CRM people page and views all of their contacts, and their associated reminders/notes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Owner clicks the button for delete person, reminder or note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Owner clicks yes, when database asks, “Are you sure”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System removes contact  information from the database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94" name="Google Shape;94;p18"/>
          <p:cNvSpPr txBox="1"/>
          <p:nvPr/>
        </p:nvSpPr>
        <p:spPr>
          <a:xfrm>
            <a:off x="300900" y="3770400"/>
            <a:ext cx="85422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5" name="Google Shape;95;p18"/>
          <p:cNvSpPr txBox="1"/>
          <p:nvPr/>
        </p:nvSpPr>
        <p:spPr>
          <a:xfrm>
            <a:off x="345325" y="4306500"/>
            <a:ext cx="85422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Exit Conditions:</a:t>
            </a:r>
            <a:r>
              <a:rPr lang="en" sz="1800"/>
              <a:t> Person/reminder/note has been removed from the database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ctrTitle"/>
          </p:nvPr>
        </p:nvSpPr>
        <p:spPr>
          <a:xfrm>
            <a:off x="274325" y="134500"/>
            <a:ext cx="6286800" cy="53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UML Use Case Diagram(For Person)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74650" y="1432963"/>
            <a:ext cx="1378200" cy="6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Owner of Personal CRM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50" y="2137438"/>
            <a:ext cx="890550" cy="81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9"/>
          <p:cNvCxnSpPr>
            <a:endCxn id="104" idx="2"/>
          </p:cNvCxnSpPr>
          <p:nvPr/>
        </p:nvCxnSpPr>
        <p:spPr>
          <a:xfrm>
            <a:off x="412150" y="2569934"/>
            <a:ext cx="729000" cy="42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" name="Google Shape;105;p19"/>
          <p:cNvSpPr/>
          <p:nvPr/>
        </p:nvSpPr>
        <p:spPr>
          <a:xfrm>
            <a:off x="1203613" y="2467100"/>
            <a:ext cx="1595100" cy="323100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View Contacts Page</a:t>
            </a:r>
            <a:endParaRPr sz="1000"/>
          </a:p>
        </p:txBody>
      </p:sp>
      <p:cxnSp>
        <p:nvCxnSpPr>
          <p:cNvPr id="106" name="Google Shape;106;p19"/>
          <p:cNvCxnSpPr>
            <a:stCxn id="105" idx="6"/>
            <a:endCxn id="107" idx="2"/>
          </p:cNvCxnSpPr>
          <p:nvPr/>
        </p:nvCxnSpPr>
        <p:spPr>
          <a:xfrm rot="10800000" flipH="1">
            <a:off x="2798713" y="1408250"/>
            <a:ext cx="932400" cy="1220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08;p19"/>
          <p:cNvCxnSpPr>
            <a:stCxn id="105" idx="6"/>
            <a:endCxn id="109" idx="2"/>
          </p:cNvCxnSpPr>
          <p:nvPr/>
        </p:nvCxnSpPr>
        <p:spPr>
          <a:xfrm rot="10800000" flipH="1">
            <a:off x="2798713" y="2190650"/>
            <a:ext cx="885000" cy="438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10;p19"/>
          <p:cNvCxnSpPr>
            <a:stCxn id="105" idx="6"/>
            <a:endCxn id="111" idx="2"/>
          </p:cNvCxnSpPr>
          <p:nvPr/>
        </p:nvCxnSpPr>
        <p:spPr>
          <a:xfrm>
            <a:off x="2798713" y="2628650"/>
            <a:ext cx="980100" cy="344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" name="Google Shape;109;p19"/>
          <p:cNvSpPr/>
          <p:nvPr/>
        </p:nvSpPr>
        <p:spPr>
          <a:xfrm>
            <a:off x="3683688" y="1825425"/>
            <a:ext cx="2199600" cy="730200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Edit(Change contact info)</a:t>
            </a:r>
            <a:endParaRPr sz="1000"/>
          </a:p>
        </p:txBody>
      </p:sp>
      <p:sp>
        <p:nvSpPr>
          <p:cNvPr id="107" name="Google Shape;107;p19"/>
          <p:cNvSpPr/>
          <p:nvPr/>
        </p:nvSpPr>
        <p:spPr>
          <a:xfrm>
            <a:off x="3731163" y="1163575"/>
            <a:ext cx="2009100" cy="489600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New Contact</a:t>
            </a:r>
            <a:endParaRPr sz="1000"/>
          </a:p>
        </p:txBody>
      </p:sp>
      <p:sp>
        <p:nvSpPr>
          <p:cNvPr id="111" name="Google Shape;111;p19"/>
          <p:cNvSpPr/>
          <p:nvPr/>
        </p:nvSpPr>
        <p:spPr>
          <a:xfrm>
            <a:off x="3778938" y="2727900"/>
            <a:ext cx="2009100" cy="489600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Delete Contact</a:t>
            </a:r>
            <a:endParaRPr sz="1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12" name="Google Shape;112;p19"/>
          <p:cNvSpPr/>
          <p:nvPr/>
        </p:nvSpPr>
        <p:spPr>
          <a:xfrm>
            <a:off x="6278088" y="2393513"/>
            <a:ext cx="1662300" cy="339300"/>
          </a:xfrm>
          <a:prstGeom prst="ellipse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Saves new database</a:t>
            </a:r>
            <a:endParaRPr sz="1000"/>
          </a:p>
        </p:txBody>
      </p:sp>
      <p:cxnSp>
        <p:nvCxnSpPr>
          <p:cNvPr id="113" name="Google Shape;113;p19"/>
          <p:cNvCxnSpPr>
            <a:stCxn id="107" idx="6"/>
            <a:endCxn id="112" idx="2"/>
          </p:cNvCxnSpPr>
          <p:nvPr/>
        </p:nvCxnSpPr>
        <p:spPr>
          <a:xfrm>
            <a:off x="5740263" y="1408375"/>
            <a:ext cx="537900" cy="1154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9"/>
          <p:cNvCxnSpPr>
            <a:stCxn id="109" idx="6"/>
            <a:endCxn id="112" idx="2"/>
          </p:cNvCxnSpPr>
          <p:nvPr/>
        </p:nvCxnSpPr>
        <p:spPr>
          <a:xfrm>
            <a:off x="5883288" y="2190525"/>
            <a:ext cx="394800" cy="372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19"/>
          <p:cNvCxnSpPr>
            <a:stCxn id="111" idx="6"/>
            <a:endCxn id="112" idx="2"/>
          </p:cNvCxnSpPr>
          <p:nvPr/>
        </p:nvCxnSpPr>
        <p:spPr>
          <a:xfrm rot="10800000" flipH="1">
            <a:off x="5788038" y="2563200"/>
            <a:ext cx="490200" cy="4095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>
            <a:spLocks noGrp="1"/>
          </p:cNvSpPr>
          <p:nvPr>
            <p:ph type="ctrTitle"/>
          </p:nvPr>
        </p:nvSpPr>
        <p:spPr>
          <a:xfrm>
            <a:off x="274325" y="134500"/>
            <a:ext cx="6286800" cy="53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E/R Diagram</a:t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id="121" name="Google Shape;121;p20" title="E_R diagram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313" y="586725"/>
            <a:ext cx="7075374" cy="451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>
            <a:spLocks noGrp="1"/>
          </p:cNvSpPr>
          <p:nvPr>
            <p:ph type="ctrTitle"/>
          </p:nvPr>
        </p:nvSpPr>
        <p:spPr>
          <a:xfrm>
            <a:off x="2907426" y="744575"/>
            <a:ext cx="3355800" cy="102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1"/>
          </p:nvPr>
        </p:nvSpPr>
        <p:spPr>
          <a:xfrm>
            <a:off x="2767500" y="2834125"/>
            <a:ext cx="3355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020" y="0"/>
            <a:ext cx="725461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>
            <a:spLocks noGrp="1"/>
          </p:cNvSpPr>
          <p:nvPr>
            <p:ph type="ctrTitle"/>
          </p:nvPr>
        </p:nvSpPr>
        <p:spPr>
          <a:xfrm>
            <a:off x="274325" y="134500"/>
            <a:ext cx="8513100" cy="53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000000"/>
                </a:solidFill>
              </a:rPr>
              <a:t>E/R Diagram Converted to Relational Schema(Tables)</a:t>
            </a:r>
            <a:endParaRPr sz="3000" dirty="0">
              <a:solidFill>
                <a:srgbClr val="000000"/>
              </a:solidFill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300900" y="497700"/>
            <a:ext cx="8542200" cy="4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Tables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Person(</a:t>
            </a:r>
            <a:r>
              <a:rPr lang="en" sz="1800" b="1"/>
              <a:t>perkey</a:t>
            </a:r>
            <a:r>
              <a:rPr lang="en" sz="1800"/>
              <a:t>, </a:t>
            </a:r>
            <a:r>
              <a:rPr lang="en" sz="1800" b="1"/>
              <a:t>photokey, </a:t>
            </a:r>
            <a:r>
              <a:rPr lang="en" sz="1800"/>
              <a:t>firstName, lastName, birthday, location, createdAt)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Notes(</a:t>
            </a:r>
            <a:r>
              <a:rPr lang="en" sz="1800" b="1"/>
              <a:t>notekey, </a:t>
            </a:r>
            <a:r>
              <a:rPr lang="en" sz="1800"/>
              <a:t>title, content, dateCreated, lastModified, tags)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NotedPerson(</a:t>
            </a:r>
            <a:r>
              <a:rPr lang="en" sz="1800" b="1"/>
              <a:t>perkey</a:t>
            </a:r>
            <a:r>
              <a:rPr lang="en" sz="1800"/>
              <a:t>, </a:t>
            </a:r>
            <a:r>
              <a:rPr lang="en" sz="1800" b="1"/>
              <a:t>notekey</a:t>
            </a:r>
            <a:r>
              <a:rPr lang="en" sz="1800"/>
              <a:t>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SocialType(</a:t>
            </a:r>
            <a:r>
              <a:rPr lang="en" sz="1800" b="1"/>
              <a:t>socialkey, </a:t>
            </a:r>
            <a:r>
              <a:rPr lang="en" sz="1800"/>
              <a:t>platformName, platformURL, icon)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SocialLinks(</a:t>
            </a:r>
            <a:r>
              <a:rPr lang="en" sz="1800" b="1"/>
              <a:t>socialkey</a:t>
            </a:r>
            <a:r>
              <a:rPr lang="en" sz="1800"/>
              <a:t>, </a:t>
            </a:r>
            <a:r>
              <a:rPr lang="en" sz="1800" b="1"/>
              <a:t>perkey, </a:t>
            </a:r>
            <a:r>
              <a:rPr lang="en" sz="1800"/>
              <a:t>handle, profileURL)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Relationships(</a:t>
            </a:r>
            <a:r>
              <a:rPr lang="en" sz="1800" b="1"/>
              <a:t>relTypekey</a:t>
            </a:r>
            <a:r>
              <a:rPr lang="en" sz="1800"/>
              <a:t>, </a:t>
            </a:r>
            <a:r>
              <a:rPr lang="en" sz="1800" b="1"/>
              <a:t>perkey1</a:t>
            </a:r>
            <a:r>
              <a:rPr lang="en" sz="1800"/>
              <a:t>, </a:t>
            </a:r>
            <a:r>
              <a:rPr lang="en" sz="1800" b="1"/>
              <a:t>perkey2, </a:t>
            </a:r>
            <a:r>
              <a:rPr lang="en" sz="1800"/>
              <a:t>startDate)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RelationshipType(</a:t>
            </a:r>
            <a:r>
              <a:rPr lang="en" sz="1800" b="1"/>
              <a:t>relTypekey, </a:t>
            </a:r>
            <a:r>
              <a:rPr lang="en" sz="1800"/>
              <a:t>name, description)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Reminders(</a:t>
            </a:r>
            <a:r>
              <a:rPr lang="en" sz="1800" b="1"/>
              <a:t>remKey, </a:t>
            </a:r>
            <a:r>
              <a:rPr lang="en" sz="1800"/>
              <a:t>title, description, dueDate, completed, </a:t>
            </a:r>
            <a:r>
              <a:rPr lang="en" sz="1800">
                <a:solidFill>
                  <a:schemeClr val="dk1"/>
                </a:solidFill>
              </a:rPr>
              <a:t>lastContactDate</a:t>
            </a:r>
            <a:r>
              <a:rPr lang="en" sz="1800"/>
              <a:t>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remPer(</a:t>
            </a:r>
            <a:r>
              <a:rPr lang="en" sz="1800" b="1"/>
              <a:t>remKey</a:t>
            </a:r>
            <a:r>
              <a:rPr lang="en" sz="1800"/>
              <a:t>,</a:t>
            </a:r>
            <a:r>
              <a:rPr lang="en" sz="1800" b="1"/>
              <a:t>perkey</a:t>
            </a:r>
            <a:r>
              <a:rPr lang="en" sz="1800"/>
              <a:t>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remCat(</a:t>
            </a:r>
            <a:r>
              <a:rPr lang="en" sz="1800" b="1"/>
              <a:t>remkey</a:t>
            </a:r>
            <a:r>
              <a:rPr lang="en" sz="1800"/>
              <a:t>, </a:t>
            </a:r>
            <a:r>
              <a:rPr lang="en" sz="1800" b="1"/>
              <a:t>catkey</a:t>
            </a:r>
            <a:r>
              <a:rPr lang="en" sz="1800"/>
              <a:t>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Category(</a:t>
            </a:r>
            <a:r>
              <a:rPr lang="en" sz="1800" b="1"/>
              <a:t>catkey, </a:t>
            </a:r>
            <a:r>
              <a:rPr lang="en" sz="1800"/>
              <a:t>name, description)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Photo(</a:t>
            </a:r>
            <a:r>
              <a:rPr lang="en" sz="1800" b="1"/>
              <a:t>photokey, </a:t>
            </a:r>
            <a:r>
              <a:rPr lang="en" sz="1800"/>
              <a:t>filePath, caption)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NotePhoto(</a:t>
            </a:r>
            <a:r>
              <a:rPr lang="en" sz="1800" b="1"/>
              <a:t>notekey</a:t>
            </a:r>
            <a:r>
              <a:rPr lang="en" sz="1800"/>
              <a:t>, </a:t>
            </a:r>
            <a:r>
              <a:rPr lang="en" sz="1800" b="1"/>
              <a:t>photokey</a:t>
            </a:r>
            <a:r>
              <a:rPr lang="en" sz="1800"/>
              <a:t>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perCat(</a:t>
            </a:r>
            <a:r>
              <a:rPr lang="en" sz="1800" b="1"/>
              <a:t>perkey</a:t>
            </a:r>
            <a:r>
              <a:rPr lang="en" sz="1800"/>
              <a:t>, </a:t>
            </a:r>
            <a:r>
              <a:rPr lang="en" sz="1800" b="1"/>
              <a:t>catkey</a:t>
            </a:r>
            <a:r>
              <a:rPr lang="en" sz="1800"/>
              <a:t>)</a:t>
            </a:r>
            <a:endParaRPr sz="18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ctrTitle"/>
          </p:nvPr>
        </p:nvSpPr>
        <p:spPr>
          <a:xfrm>
            <a:off x="274325" y="134500"/>
            <a:ext cx="8513100" cy="53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Implementation Details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300900" y="497700"/>
            <a:ext cx="8542200" cy="4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Database Layer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Used SQLite as the primary database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Designed relational schema with tables for: Persons, Notes, Reminders, Relationships, Junction tables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Backend Layer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Implemented using Flask.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REST API routes for: Creating, reading, updating, deleting in Persons, Notes, and Reminders tables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Frontend Layer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Built with React + Vite for modularity and easier development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Uses React Hooks like useState, useEffect to manage statuses and states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Macintosh PowerPoint</Application>
  <PresentationFormat>On-screen Show (16:9)</PresentationFormat>
  <Paragraphs>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Personal CRM</vt:lpstr>
      <vt:lpstr>System Description - Personal CRM</vt:lpstr>
      <vt:lpstr>Use Case Description</vt:lpstr>
      <vt:lpstr>Use Case #1 - Add Person, Reminder, Or Note</vt:lpstr>
      <vt:lpstr>Use Case #2 - View/Edit Person, Reminder or Note</vt:lpstr>
      <vt:lpstr>Use Case #3 - Delete Person, Reminder, or Note</vt:lpstr>
      <vt:lpstr>UML Use Case Diagram(For Person)</vt:lpstr>
      <vt:lpstr>E/R Diagram</vt:lpstr>
      <vt:lpstr>PowerPoint Presentation</vt:lpstr>
      <vt:lpstr>E/R Diagram Converted to Relational Schema(Tables)</vt:lpstr>
      <vt:lpstr>Implementation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Blake Hoff</cp:lastModifiedBy>
  <cp:revision>1</cp:revision>
  <dcterms:modified xsi:type="dcterms:W3CDTF">2025-12-10T19:32:56Z</dcterms:modified>
</cp:coreProperties>
</file>